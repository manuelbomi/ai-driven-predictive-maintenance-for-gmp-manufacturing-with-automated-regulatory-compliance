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67" r:id="rId4"/>
    <p:sldId id="258" r:id="rId5"/>
    <p:sldId id="268" r:id="rId6"/>
    <p:sldId id="269" r:id="rId7"/>
    <p:sldId id="276" r:id="rId8"/>
    <p:sldId id="270" r:id="rId9"/>
    <p:sldId id="271" r:id="rId10"/>
    <p:sldId id="272" r:id="rId11"/>
    <p:sldId id="273" r:id="rId12"/>
    <p:sldId id="274" r:id="rId13"/>
    <p:sldId id="275" r:id="rId14"/>
    <p:sldId id="277" r:id="rId15"/>
    <p:sldId id="280" r:id="rId16"/>
    <p:sldId id="28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9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8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9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2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6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1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8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2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7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0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55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2318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0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8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72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31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40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AI-Driven Predictive Maintenance</a:t>
            </a:r>
          </a:p>
          <a:p>
            <a:r>
              <a:rPr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GMP Manufacturing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(Regeneron IOPS)</a:t>
            </a: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856" y="2680379"/>
            <a:ext cx="7773339" cy="2645477"/>
          </a:xfrm>
        </p:spPr>
        <p:txBody>
          <a:bodyPr>
            <a:normAutofit fontScale="47500" lnSpcReduction="20000"/>
          </a:bodyPr>
          <a:lstStyle/>
          <a:p>
            <a:pPr latinLnBrk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latinLnBrk="1">
              <a:buNone/>
            </a:pPr>
            <a:r>
              <a:rPr lang="en-US" sz="4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Case Study Presentation</a:t>
            </a:r>
          </a:p>
          <a:p>
            <a:pPr marL="0" indent="0" algn="ctr" latinLnBrk="1">
              <a:buNone/>
            </a:pPr>
            <a:endParaRPr lang="en-US" sz="4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latinLnBrk="1">
              <a:buNone/>
            </a:pPr>
            <a:endParaRPr lang="en-US" sz="4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 latinLnBrk="1">
              <a:buNone/>
            </a:pPr>
            <a:r>
              <a:rPr lang="en-US" sz="4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Emmanuel Oyekanlu </a:t>
            </a:r>
          </a:p>
          <a:p>
            <a:pPr marL="0" indent="0" algn="ctr" latinLnBrk="1">
              <a:buNone/>
            </a:pPr>
            <a:r>
              <a:rPr lang="en-US" sz="4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(Nov 4, 2025)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913F8D-843D-885B-9CC2-2DCC1F9BD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856" y="6491201"/>
            <a:ext cx="1954444" cy="2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1A56-00E2-5A99-352B-4FBBCD46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625F811-4E0D-2562-4B86-A7FFCE0F6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053" y="6506851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9BFD81-C943-364D-4C30-96E1406B7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1" y="998984"/>
            <a:ext cx="7773339" cy="5017908"/>
          </a:xfrm>
        </p:spPr>
        <p:txBody>
          <a:bodyPr/>
          <a:lstStyle/>
          <a:p>
            <a:r>
              <a:rPr lang="en-US" cap="none" dirty="0"/>
              <a:t>The challenge, proposed solution &amp; business impact</a:t>
            </a:r>
          </a:p>
          <a:p>
            <a:r>
              <a:rPr lang="en-US" cap="none" dirty="0"/>
              <a:t>Solution architecture overview</a:t>
            </a:r>
          </a:p>
          <a:p>
            <a:r>
              <a:rPr lang="en-US" cap="none" dirty="0"/>
              <a:t>Data strategy and GMP compliance</a:t>
            </a:r>
          </a:p>
          <a:p>
            <a:r>
              <a:rPr lang="en-US" cap="none" dirty="0"/>
              <a:t>Hybrid AI model architecture</a:t>
            </a:r>
          </a:p>
          <a:p>
            <a:r>
              <a:rPr lang="en-US" cap="none" dirty="0"/>
              <a:t>Model explainability and SHAP analysis</a:t>
            </a:r>
          </a:p>
          <a:p>
            <a:r>
              <a:rPr lang="en-US" cap="none" dirty="0"/>
              <a:t>Infrastructure &amp; Deployment Strategy</a:t>
            </a:r>
          </a:p>
          <a:p>
            <a:r>
              <a:rPr lang="en-US" cap="none" dirty="0"/>
              <a:t>GMP Validation &amp; Compliance</a:t>
            </a:r>
          </a:p>
          <a:p>
            <a:r>
              <a:rPr lang="en-US" cap="none" dirty="0"/>
              <a:t>Monitoring &amp; Continuous Improvement</a:t>
            </a:r>
          </a:p>
          <a:p>
            <a:r>
              <a:rPr lang="en-US" cap="none" dirty="0"/>
              <a:t>Implementation Roadmap &amp; Conclusion</a:t>
            </a:r>
          </a:p>
          <a:p>
            <a:r>
              <a:rPr lang="en-US" cap="none" dirty="0"/>
              <a:t>Questions &amp; Further Discussions</a:t>
            </a:r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1C8605-3E7A-28BC-D205-1AA87CDF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32715"/>
            <a:ext cx="7773338" cy="777513"/>
          </a:xfrm>
        </p:spPr>
        <p:txBody>
          <a:bodyPr/>
          <a:lstStyle/>
          <a:p>
            <a:r>
              <a:rPr lang="en-US" dirty="0"/>
              <a:t>Presentation overview</a:t>
            </a:r>
          </a:p>
        </p:txBody>
      </p:sp>
    </p:spTree>
    <p:extLst>
      <p:ext uri="{BB962C8B-B14F-4D97-AF65-F5344CB8AC3E}">
        <p14:creationId xmlns:p14="http://schemas.microsoft.com/office/powerpoint/2010/main" val="90236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4B2B-57A8-6E6D-4979-1CD4C39D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88996F-638F-DDDD-2783-494EE665E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en-US" sz="2500" b="1" u="sng" cap="none" dirty="0"/>
              <a:t>THE CHALLENGE:</a:t>
            </a:r>
          </a:p>
          <a:p>
            <a:pPr marL="0" indent="0" latinLnBrk="1">
              <a:buNone/>
            </a:pPr>
            <a:r>
              <a:rPr lang="en-US" sz="2900" cap="none" dirty="0"/>
              <a:t>- Fixed-schedule maintenance: inefficient &amp; costly</a:t>
            </a:r>
          </a:p>
          <a:p>
            <a:pPr marL="0" indent="0" latinLnBrk="1">
              <a:buNone/>
            </a:pPr>
            <a:r>
              <a:rPr lang="en-US" sz="2900" cap="none" dirty="0"/>
              <a:t>- Unplanned downtime = product loss + compliance risks</a:t>
            </a:r>
          </a:p>
          <a:p>
            <a:pPr marL="0" indent="0" latinLnBrk="1">
              <a:buNone/>
            </a:pPr>
            <a:r>
              <a:rPr lang="en-US" sz="2900" cap="none" dirty="0"/>
              <a:t>- Reactive approach limits operational excellence</a:t>
            </a:r>
          </a:p>
          <a:p>
            <a:pPr marL="0" indent="0" latinLnBrk="1">
              <a:buNone/>
            </a:pPr>
            <a:endParaRPr lang="en-US" sz="700" cap="none" dirty="0"/>
          </a:p>
          <a:p>
            <a:pPr marL="0" indent="0" latinLnBrk="1">
              <a:buNone/>
            </a:pPr>
            <a:r>
              <a:rPr lang="en-US" sz="2500" b="1" u="sng" cap="none" dirty="0"/>
              <a:t>OUR SOLUTION: PREDICTIVE MAINTENANCE AS A SERVICE</a:t>
            </a:r>
            <a:endParaRPr lang="en-US" sz="2500" cap="none" dirty="0"/>
          </a:p>
          <a:p>
            <a:pPr marL="0" indent="0" latinLnBrk="1">
              <a:buNone/>
            </a:pPr>
            <a:r>
              <a:rPr lang="en-US" sz="2500" u="sng" cap="none" dirty="0"/>
              <a:t>Core Pillars:</a:t>
            </a:r>
          </a:p>
          <a:p>
            <a:pPr latinLnBrk="1"/>
            <a:r>
              <a:rPr lang="en-US" sz="2500" cap="none" dirty="0"/>
              <a:t>DATA INTEGRITY - ALCOA+ principles foundation</a:t>
            </a:r>
          </a:p>
          <a:p>
            <a:pPr latinLnBrk="1"/>
            <a:r>
              <a:rPr lang="en-US" sz="2500" cap="none" dirty="0"/>
              <a:t>MODEL RELIABILITY - Accurate &amp; interpretable AI</a:t>
            </a:r>
          </a:p>
          <a:p>
            <a:pPr latinLnBrk="1"/>
            <a:r>
              <a:rPr lang="en-US" sz="2500" cap="none" dirty="0"/>
              <a:t>GMP COMPLIANCE - Validated from day one</a:t>
            </a:r>
          </a:p>
          <a:p>
            <a:pPr marL="0" indent="0" latinLnBrk="1">
              <a:buNone/>
            </a:pPr>
            <a:endParaRPr lang="en-US" sz="1300" cap="none" dirty="0"/>
          </a:p>
          <a:p>
            <a:pPr marL="0" indent="0" latinLnBrk="1">
              <a:buNone/>
            </a:pPr>
            <a:r>
              <a:rPr lang="en-US" sz="2500" b="1" u="sng" cap="none" dirty="0"/>
              <a:t>EXPECTED BUSINESS IMPACT:</a:t>
            </a:r>
          </a:p>
          <a:p>
            <a:pPr marL="0" indent="0" latinLnBrk="1">
              <a:buNone/>
            </a:pPr>
            <a:r>
              <a:rPr lang="en-US" sz="2500" cap="none" dirty="0"/>
              <a:t>▶ 15-20% reduction in unplanned downtime</a:t>
            </a:r>
          </a:p>
          <a:p>
            <a:pPr marL="0" indent="0" latinLnBrk="1">
              <a:buNone/>
            </a:pPr>
            <a:r>
              <a:rPr lang="en-US" sz="2500" cap="none" dirty="0"/>
              <a:t>▶ 10-15% maintenance cost reduction  </a:t>
            </a:r>
          </a:p>
          <a:p>
            <a:pPr marL="0" indent="0" latinLnBrk="1">
              <a:buNone/>
            </a:pPr>
            <a:r>
              <a:rPr lang="en-US" sz="2500" cap="none" dirty="0"/>
              <a:t>▶ enhanced product quality &amp; supply reliability</a:t>
            </a:r>
          </a:p>
          <a:p>
            <a:pPr marL="0" indent="0" latinLnBrk="1">
              <a:buNone/>
            </a:pPr>
            <a:r>
              <a:rPr lang="en-US" sz="2500" cap="none" dirty="0"/>
              <a:t>▶ data-driven continuous improvement</a:t>
            </a:r>
          </a:p>
          <a:p>
            <a:pPr marL="0" indent="0" latinLnBrk="1">
              <a:buNone/>
            </a:pPr>
            <a:r>
              <a:rPr lang="en-US" sz="2500" cap="none" dirty="0"/>
              <a:t>▶ Waste reduction</a:t>
            </a:r>
          </a:p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BBEDB36-A693-1028-A98C-62867DA0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32715"/>
            <a:ext cx="7773338" cy="425697"/>
          </a:xfrm>
        </p:spPr>
        <p:txBody>
          <a:bodyPr>
            <a:normAutofit/>
          </a:bodyPr>
          <a:lstStyle/>
          <a:p>
            <a:r>
              <a:rPr lang="en-US" sz="2400" b="1" cap="none" dirty="0"/>
              <a:t>The challenge, proposed solution &amp; business impact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25686C-E344-D556-4E05-BB1DB92F8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40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105"/>
            <a:ext cx="7773338" cy="351723"/>
          </a:xfrm>
        </p:spPr>
        <p:txBody>
          <a:bodyPr>
            <a:normAutofit/>
          </a:bodyPr>
          <a:lstStyle/>
          <a:p>
            <a:pPr latinLnBrk="1"/>
            <a:r>
              <a:rPr lang="en-US" sz="1200" b="1" dirty="0"/>
              <a:t>GMP PREDICTIVE MAINTENANCE ARCHITECTURE OVERVIEW (Cloud Layer ONLY)</a:t>
            </a:r>
          </a:p>
        </p:txBody>
      </p:sp>
      <p:pic>
        <p:nvPicPr>
          <p:cNvPr id="9" name="Content Placeholder 8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76226977-D330-6F15-3E2E-0CEBE77E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653" y="547124"/>
            <a:ext cx="5905210" cy="597788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46AF-7BC6-195A-1E46-44F37378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092DC0-43D7-4DDF-7B72-F7614780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07" y="686862"/>
            <a:ext cx="8774052" cy="6083886"/>
          </a:xfrm>
        </p:spPr>
        <p:txBody>
          <a:bodyPr>
            <a:normAutofit fontScale="32500" lnSpcReduction="20000"/>
          </a:bodyPr>
          <a:lstStyle/>
          <a:p>
            <a:pPr marL="0" indent="0" latinLnBrk="1">
              <a:buNone/>
            </a:pPr>
            <a:r>
              <a:rPr lang="en-US" sz="5600" b="1" cap="none" dirty="0"/>
              <a:t>DATA SOURCES INTEGRATION, DATA COLLECTION &amp; PREPROCESSING STRATEGY</a:t>
            </a:r>
          </a:p>
          <a:p>
            <a:pPr marL="0" indent="0" latinLnBrk="1">
              <a:buNone/>
            </a:pPr>
            <a:r>
              <a:rPr lang="en-US" sz="5600" cap="none" dirty="0"/>
              <a:t>• Real-time Sensors: Temperature, Pressure, Vibration, pH</a:t>
            </a:r>
          </a:p>
          <a:p>
            <a:pPr marL="0" indent="0" latinLnBrk="1">
              <a:buNone/>
            </a:pPr>
            <a:r>
              <a:rPr lang="en-US" sz="5600" cap="none" dirty="0"/>
              <a:t>• Maintenance Records: CMMS work orders &amp; failure codes</a:t>
            </a:r>
          </a:p>
          <a:p>
            <a:pPr marL="0" indent="0" latinLnBrk="1">
              <a:buNone/>
            </a:pPr>
            <a:r>
              <a:rPr lang="en-US" sz="5600" cap="none" dirty="0"/>
              <a:t>• Operational Data: Batch records, SOP execution logs</a:t>
            </a:r>
          </a:p>
          <a:p>
            <a:pPr marL="0" indent="0" latinLnBrk="1">
              <a:buNone/>
            </a:pPr>
            <a:endParaRPr lang="en-US" sz="5600" cap="none" dirty="0"/>
          </a:p>
          <a:p>
            <a:pPr marL="0" indent="0" latinLnBrk="1">
              <a:buNone/>
            </a:pPr>
            <a:r>
              <a:rPr lang="en-US" sz="5600" b="1" cap="none" dirty="0"/>
              <a:t>GMP DATA QUALITY FRAMEWORK:</a:t>
            </a:r>
          </a:p>
          <a:p>
            <a:pPr marL="0" indent="0" latinLnBrk="1">
              <a:buNone/>
            </a:pPr>
            <a:r>
              <a:rPr lang="en-US" sz="5600" cap="none" dirty="0"/>
              <a:t>ALCOA+ PRINCIPLES: Attributable, Legible, Contemporaneous, Original, Accurate</a:t>
            </a:r>
          </a:p>
          <a:p>
            <a:pPr marL="0" indent="0" latinLnBrk="1">
              <a:buNone/>
            </a:pPr>
            <a:endParaRPr lang="en-US" sz="5600" cap="none" dirty="0"/>
          </a:p>
          <a:p>
            <a:pPr marL="0" indent="0" latinLnBrk="1">
              <a:buNone/>
            </a:pPr>
            <a:r>
              <a:rPr lang="en-US" sz="5600" b="1" cap="none" dirty="0"/>
              <a:t>MISSING DATA HANDLING:</a:t>
            </a:r>
          </a:p>
          <a:p>
            <a:pPr marL="0" indent="0" latinLnBrk="1">
              <a:buNone/>
            </a:pPr>
            <a:r>
              <a:rPr lang="en-US" sz="5600" cap="none" dirty="0"/>
              <a:t>• KNN Imputation for sensor data. Mean vs Mode data imputation. SMOTE</a:t>
            </a:r>
          </a:p>
          <a:p>
            <a:pPr marL="0" indent="0" latinLnBrk="1">
              <a:buNone/>
            </a:pPr>
            <a:r>
              <a:rPr lang="en-US" sz="5600" cap="none" dirty="0"/>
              <a:t>• Data filling for time-series gaps</a:t>
            </a:r>
          </a:p>
          <a:p>
            <a:pPr marL="0" indent="0" latinLnBrk="1">
              <a:buNone/>
            </a:pPr>
            <a:r>
              <a:rPr lang="en-US" sz="5600" cap="none" dirty="0"/>
              <a:t>• Complete audit trail of all transformations</a:t>
            </a:r>
          </a:p>
          <a:p>
            <a:pPr marL="0" indent="0" latinLnBrk="1">
              <a:buNone/>
            </a:pPr>
            <a:r>
              <a:rPr lang="en-US" sz="5600" cap="none" dirty="0"/>
              <a:t>• Redundant data removal</a:t>
            </a:r>
          </a:p>
          <a:p>
            <a:pPr marL="0" indent="0" latinLnBrk="1">
              <a:buNone/>
            </a:pPr>
            <a:endParaRPr lang="en-US" sz="5600" cap="none" dirty="0"/>
          </a:p>
          <a:p>
            <a:pPr marL="0" indent="0" latinLnBrk="1">
              <a:buNone/>
            </a:pPr>
            <a:endParaRPr lang="en-US" sz="3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B6B88D2-E652-FDBC-1F95-FBF49432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60544"/>
            <a:ext cx="7773338" cy="670093"/>
          </a:xfrm>
        </p:spPr>
        <p:txBody>
          <a:bodyPr>
            <a:normAutofit fontScale="90000"/>
          </a:bodyPr>
          <a:lstStyle/>
          <a:p>
            <a:r>
              <a:rPr lang="en-US" sz="2400" b="1" cap="none" dirty="0"/>
              <a:t>Data Strategy and GMP Compliance</a:t>
            </a:r>
            <a:br>
              <a:rPr lang="en-US" sz="2400" b="1" cap="none" dirty="0"/>
            </a:br>
            <a:endParaRPr lang="en-US" sz="2400" b="1" cap="none" dirty="0"/>
          </a:p>
        </p:txBody>
      </p:sp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5EA3C08C-A3FA-FCC3-8748-8505C47B7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400" y="5461954"/>
            <a:ext cx="5099253" cy="12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7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7843-4ED8-8FF6-F13C-089689A5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3834A0-C1E5-0DB4-A126-E28D94DBB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AD0C4F-A5CE-99EF-78BC-BF110298F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60545"/>
            <a:ext cx="7773338" cy="451770"/>
          </a:xfrm>
        </p:spPr>
        <p:txBody>
          <a:bodyPr>
            <a:normAutofit/>
          </a:bodyPr>
          <a:lstStyle/>
          <a:p>
            <a:r>
              <a:rPr lang="en-US" sz="2400" b="1" cap="none" dirty="0"/>
              <a:t>Hybrid AI model architecture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760F2C9-36A4-4FEF-1CF7-E02034152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BE89690F-37AC-71F5-7976-4CFF371A1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64" y="1235860"/>
            <a:ext cx="4886107" cy="5007793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109E2B65-7C8D-7927-113B-A2C1361086A5}"/>
              </a:ext>
            </a:extLst>
          </p:cNvPr>
          <p:cNvSpPr txBox="1">
            <a:spLocks/>
          </p:cNvSpPr>
          <p:nvPr/>
        </p:nvSpPr>
        <p:spPr>
          <a:xfrm>
            <a:off x="5542298" y="929342"/>
            <a:ext cx="2847788" cy="810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cap="none" dirty="0"/>
              <a:t>Specific Failure Detection Capabilities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8D249-C291-63AE-406F-7A288EE87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348" y="1720422"/>
            <a:ext cx="3678288" cy="428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3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800B-FC34-39D1-637B-E3561769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085EA7-9AC1-AD00-C10F-08F5F320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567978C-F94D-D7FD-7885-7FB6844A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60545"/>
            <a:ext cx="7773338" cy="451770"/>
          </a:xfrm>
        </p:spPr>
        <p:txBody>
          <a:bodyPr>
            <a:normAutofit/>
          </a:bodyPr>
          <a:lstStyle/>
          <a:p>
            <a:r>
              <a:rPr lang="en-US" sz="2400" b="1" cap="none" dirty="0"/>
              <a:t>Hybrid AI model architecture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B46C260-A5FE-AEA9-350E-40A120E4F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149166C-6DC8-F0CE-4B4C-0A4ABB2FD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514103"/>
              </p:ext>
            </p:extLst>
          </p:nvPr>
        </p:nvGraphicFramePr>
        <p:xfrm>
          <a:off x="449263" y="914400"/>
          <a:ext cx="8367712" cy="457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241399" imgH="4505833" progId="Word.Document.12">
                  <p:embed/>
                </p:oleObj>
              </mc:Choice>
              <mc:Fallback>
                <p:oleObj name="Document" r:id="rId3" imgW="8241399" imgH="45058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263" y="914400"/>
                        <a:ext cx="8367712" cy="4579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010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08B1-2F83-9097-08A0-8F25BFF3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83AF8D-2A14-E871-F872-01C417ED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cap="none" dirty="0"/>
              <a:t>Model Interpretability for GMP  Compliance </a:t>
            </a:r>
          </a:p>
          <a:p>
            <a:pPr marL="0" indent="0" latinLnBrk="1">
              <a:buNone/>
            </a:pPr>
            <a:r>
              <a:rPr lang="en-US" cap="none" dirty="0"/>
              <a:t>We don't just get a prediction; we get a reason  </a:t>
            </a:r>
          </a:p>
          <a:p>
            <a:pPr latinLnBrk="1"/>
            <a:endParaRPr lang="en-US" sz="1100" cap="none" dirty="0"/>
          </a:p>
          <a:p>
            <a:pPr latinLnBrk="1"/>
            <a:r>
              <a:rPr lang="en-US" u="sng" cap="none" dirty="0"/>
              <a:t>SHAP</a:t>
            </a:r>
            <a:r>
              <a:rPr lang="en-US" cap="none" dirty="0"/>
              <a:t> (Shapley Additive Explanations):</a:t>
            </a:r>
          </a:p>
          <a:p>
            <a:pPr marL="0" indent="0" latinLnBrk="1">
              <a:buNone/>
            </a:pPr>
            <a:r>
              <a:rPr lang="en-US" cap="none" dirty="0"/>
              <a:t>• Feature importance scoring for every prediction</a:t>
            </a:r>
          </a:p>
          <a:p>
            <a:pPr latinLnBrk="1"/>
            <a:r>
              <a:rPr lang="en-US" cap="none" dirty="0"/>
              <a:t>Audit-ready explanations for regulatory compliance</a:t>
            </a:r>
          </a:p>
          <a:p>
            <a:pPr latinLnBrk="1"/>
            <a:r>
              <a:rPr lang="en-US" cap="none" dirty="0"/>
              <a:t>Engineer-friendly diagnostics</a:t>
            </a:r>
          </a:p>
          <a:p>
            <a:pPr marL="0" indent="0" latinLnBrk="1">
              <a:buNone/>
            </a:pPr>
            <a:endParaRPr lang="en-US" sz="900" cap="none" dirty="0"/>
          </a:p>
          <a:p>
            <a:pPr marL="0" indent="0" latinLnBrk="1">
              <a:buNone/>
            </a:pPr>
            <a:endParaRPr lang="en-US" sz="900" cap="none" dirty="0"/>
          </a:p>
          <a:p>
            <a:pPr marL="0" indent="0" latinLnBrk="1">
              <a:buNone/>
            </a:pPr>
            <a:endParaRPr lang="en-US" sz="900" cap="none" dirty="0"/>
          </a:p>
          <a:p>
            <a:pPr latinLnBrk="1"/>
            <a:r>
              <a:rPr lang="en-US" cap="none" dirty="0"/>
              <a:t>Example prediction explanation:</a:t>
            </a:r>
          </a:p>
          <a:p>
            <a:pPr latinLnBrk="1"/>
            <a:endParaRPr lang="en-US" cap="none" dirty="0"/>
          </a:p>
          <a:p>
            <a:pPr latinLnBrk="1"/>
            <a:r>
              <a:rPr lang="en-US" cap="none" dirty="0"/>
              <a:t>prediction: 92% probability of bearing failure in 48 hours</a:t>
            </a:r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7E1989-3F4A-E55F-6E0A-2C61CA7C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60545"/>
            <a:ext cx="7773338" cy="451770"/>
          </a:xfrm>
        </p:spPr>
        <p:txBody>
          <a:bodyPr>
            <a:normAutofit/>
          </a:bodyPr>
          <a:lstStyle/>
          <a:p>
            <a:r>
              <a:rPr lang="en-US" sz="2400" cap="none" dirty="0"/>
              <a:t>Model Explainability and SHAP Analysis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6BD2C1E-A771-08B9-E77E-CE7C3ABCD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Sunglasses face outline with solid fill">
            <a:extLst>
              <a:ext uri="{FF2B5EF4-FFF2-40B4-BE49-F238E27FC236}">
                <a16:creationId xmlns:a16="http://schemas.microsoft.com/office/drawing/2014/main" id="{04C39A04-1D5D-4FDE-811C-54D7CC2E2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5877" y="1003397"/>
            <a:ext cx="914400" cy="914400"/>
          </a:xfrm>
          <a:prstGeom prst="rect">
            <a:avLst/>
          </a:prstGeom>
        </p:spPr>
      </p:pic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16A989BB-DE5C-FD14-4DE4-B403052A3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775" y="3428999"/>
            <a:ext cx="4544876" cy="23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1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B87A-D2C6-E1E1-2303-267DC964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B37E57-6246-F284-6E22-B422C44C0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6076906"/>
          </a:xfrm>
        </p:spPr>
        <p:txBody>
          <a:bodyPr>
            <a:normAutofit fontScale="92500" lnSpcReduction="10000"/>
          </a:bodyPr>
          <a:lstStyle/>
          <a:p>
            <a:pPr latinLnBrk="1"/>
            <a:r>
              <a:rPr lang="en-US" cap="none" dirty="0"/>
              <a:t>On-Prem Deployment in some Instances: Docker Hub, CI/CD</a:t>
            </a:r>
          </a:p>
          <a:p>
            <a:pPr latinLnBrk="1"/>
            <a:r>
              <a:rPr lang="en-US" u="sng" cap="none" dirty="0"/>
              <a:t>Cloud Infrastructure &amp; Scalability</a:t>
            </a:r>
          </a:p>
          <a:p>
            <a:pPr marL="0" indent="0" latinLnBrk="1">
              <a:buNone/>
            </a:pPr>
            <a:endParaRPr lang="en-US" sz="200" u="sng" cap="none" dirty="0"/>
          </a:p>
          <a:p>
            <a:pPr marL="0" indent="0" latinLnBrk="1">
              <a:buNone/>
            </a:pPr>
            <a:r>
              <a:rPr lang="en-US" u="sng" cap="none" dirty="0"/>
              <a:t>Azure platform selection:</a:t>
            </a:r>
          </a:p>
          <a:p>
            <a:pPr marL="0" indent="0" latinLnBrk="1">
              <a:buNone/>
            </a:pPr>
            <a:r>
              <a:rPr lang="en-US" cap="none" dirty="0"/>
              <a:t>IoT Hub: Real-time sensor data ingestion</a:t>
            </a:r>
          </a:p>
          <a:p>
            <a:pPr marL="0" indent="0" latinLnBrk="1">
              <a:buNone/>
            </a:pPr>
            <a:r>
              <a:rPr lang="en-US" cap="none" dirty="0"/>
              <a:t>Data Lake Storage: Single source of truth</a:t>
            </a:r>
          </a:p>
          <a:p>
            <a:pPr marL="0" indent="0" latinLnBrk="1">
              <a:buNone/>
            </a:pPr>
            <a:r>
              <a:rPr lang="en-US" cap="none" dirty="0"/>
              <a:t>Azure Databricks: Feature engineering &amp; training</a:t>
            </a:r>
          </a:p>
          <a:p>
            <a:pPr marL="0" indent="0" latinLnBrk="1">
              <a:buNone/>
            </a:pPr>
            <a:r>
              <a:rPr lang="en-US" cap="none" dirty="0"/>
              <a:t>Azure ML: Model management &amp; pipelines</a:t>
            </a:r>
          </a:p>
          <a:p>
            <a:pPr marL="0" indent="0" latinLnBrk="1">
              <a:buNone/>
            </a:pPr>
            <a:r>
              <a:rPr lang="en-US" cap="none" dirty="0"/>
              <a:t>AKS (Kubernetes): Scalable model serving</a:t>
            </a:r>
          </a:p>
          <a:p>
            <a:pPr marL="0" indent="0" latinLnBrk="1">
              <a:buNone/>
            </a:pPr>
            <a:endParaRPr lang="en-US" sz="100" cap="none" dirty="0"/>
          </a:p>
          <a:p>
            <a:pPr marL="0" indent="0" latinLnBrk="1">
              <a:buNone/>
            </a:pPr>
            <a:r>
              <a:rPr lang="en-US" u="sng" cap="none" dirty="0"/>
              <a:t>Deployment Strategies:</a:t>
            </a:r>
          </a:p>
          <a:p>
            <a:pPr marL="0" indent="0" latinLnBrk="1">
              <a:buNone/>
            </a:pPr>
            <a:r>
              <a:rPr lang="en-US" cap="none" dirty="0"/>
              <a:t>Canary release: Single production line evaluation</a:t>
            </a:r>
          </a:p>
          <a:p>
            <a:pPr marL="0" indent="0" latinLnBrk="1">
              <a:buNone/>
            </a:pPr>
            <a:r>
              <a:rPr lang="en-US" cap="none" dirty="0"/>
              <a:t>Shadow Mode: Prediction without actions (for some time)</a:t>
            </a:r>
          </a:p>
          <a:p>
            <a:pPr marL="0" indent="0" latinLnBrk="1">
              <a:buNone/>
            </a:pPr>
            <a:r>
              <a:rPr lang="en-US" cap="none" dirty="0"/>
              <a:t>Gradual Rollout: Expand with validation</a:t>
            </a:r>
          </a:p>
          <a:p>
            <a:pPr marL="0" indent="0" latinLnBrk="1">
              <a:buNone/>
            </a:pPr>
            <a:r>
              <a:rPr lang="en-US" cap="none" dirty="0"/>
              <a:t>Full Scale Deployment: Kubernetes, Helm files, HPC (Nvidia </a:t>
            </a:r>
            <a:r>
              <a:rPr lang="en-US" cap="none" dirty="0" err="1"/>
              <a:t>Run:ai</a:t>
            </a:r>
            <a:r>
              <a:rPr lang="en-US" cap="none" dirty="0"/>
              <a:t>) ?</a:t>
            </a:r>
          </a:p>
          <a:p>
            <a:pPr marL="0" indent="0" latinLnBrk="1">
              <a:buNone/>
            </a:pPr>
            <a:endParaRPr lang="en-US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D3E9372-8C4A-5198-7607-9531AA9F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60545"/>
            <a:ext cx="7773338" cy="451770"/>
          </a:xfrm>
        </p:spPr>
        <p:txBody>
          <a:bodyPr>
            <a:normAutofit/>
          </a:bodyPr>
          <a:lstStyle/>
          <a:p>
            <a:r>
              <a:rPr lang="en-US" sz="2400" cap="none" dirty="0"/>
              <a:t>Infrastructure &amp; Deployment Strategy</a:t>
            </a:r>
          </a:p>
        </p:txBody>
      </p:sp>
      <p:pic>
        <p:nvPicPr>
          <p:cNvPr id="4" name="Picture 3" descr="A diagram of a cloud layer&#10;&#10;AI-generated content may be incorrect.">
            <a:extLst>
              <a:ext uri="{FF2B5EF4-FFF2-40B4-BE49-F238E27FC236}">
                <a16:creationId xmlns:a16="http://schemas.microsoft.com/office/drawing/2014/main" id="{151EC046-CFB1-AB26-BE45-4042A0639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876" y="1043719"/>
            <a:ext cx="3504037" cy="207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1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7B2B-E133-DEBD-BB3E-6AC69DD0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970BB-A4B9-062B-A2D3-7276FD81C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en-US" u="sng" cap="none" dirty="0"/>
              <a:t>Compliance by Design: </a:t>
            </a:r>
            <a:r>
              <a:rPr lang="en-US" cap="none" dirty="0"/>
              <a:t>GAMP 5 framework, EU GMP Annex11, FDA 21 </a:t>
            </a:r>
            <a:r>
              <a:rPr lang="en-US" cap="none" dirty="0" err="1"/>
              <a:t>CFRPart</a:t>
            </a:r>
            <a:r>
              <a:rPr lang="en-US" cap="none" dirty="0"/>
              <a:t> 11</a:t>
            </a:r>
          </a:p>
          <a:p>
            <a:pPr latinLnBrk="1"/>
            <a:r>
              <a:rPr lang="en-US" cap="none" dirty="0"/>
              <a:t>Validation Lifecycle:</a:t>
            </a:r>
          </a:p>
          <a:p>
            <a:pPr marL="0" indent="0" latinLnBrk="1">
              <a:buNone/>
            </a:pPr>
            <a:endParaRPr lang="en-US" sz="100" u="sng" cap="none" dirty="0"/>
          </a:p>
          <a:p>
            <a:pPr marL="0" indent="0" latinLnBrk="1">
              <a:buNone/>
            </a:pPr>
            <a:endParaRPr lang="en-US" u="sng" cap="none" dirty="0"/>
          </a:p>
          <a:p>
            <a:pPr marL="0" indent="0" latinLnBrk="1">
              <a:buNone/>
            </a:pPr>
            <a:r>
              <a:rPr lang="en-US" u="sng" cap="none" dirty="0"/>
              <a:t>Key Validation Deliverables:</a:t>
            </a:r>
          </a:p>
          <a:p>
            <a:pPr marL="0" indent="0" latinLnBrk="1">
              <a:buNone/>
            </a:pPr>
            <a:r>
              <a:rPr lang="en-US" cap="none" dirty="0"/>
              <a:t>Installation Qualification (IQ): Infrastructure setup</a:t>
            </a:r>
          </a:p>
          <a:p>
            <a:pPr marL="0" indent="0" latinLnBrk="1">
              <a:buNone/>
            </a:pPr>
            <a:r>
              <a:rPr lang="en-US" cap="none" dirty="0"/>
              <a:t>Operational Qualification (OQ): System functionality  </a:t>
            </a:r>
          </a:p>
          <a:p>
            <a:pPr marL="0" indent="0" latinLnBrk="1">
              <a:buNone/>
            </a:pPr>
            <a:r>
              <a:rPr lang="en-US" cap="none" dirty="0"/>
              <a:t>Performance Qualification (PQ): Business process validation</a:t>
            </a:r>
          </a:p>
          <a:p>
            <a:pPr marL="0" indent="0" latinLnBrk="1">
              <a:buNone/>
            </a:pPr>
            <a:endParaRPr lang="en-US" sz="1000" cap="none" dirty="0"/>
          </a:p>
          <a:p>
            <a:pPr marL="0" indent="0" latinLnBrk="1">
              <a:buNone/>
            </a:pPr>
            <a:r>
              <a:rPr lang="en-US" u="sng" cap="none" dirty="0"/>
              <a:t>Audit Trail &amp; Change Control:</a:t>
            </a:r>
          </a:p>
          <a:p>
            <a:pPr latinLnBrk="1"/>
            <a:r>
              <a:rPr lang="en-US" cap="none" dirty="0"/>
              <a:t> Immutable logs for all data transformations</a:t>
            </a:r>
          </a:p>
          <a:p>
            <a:pPr latinLnBrk="1"/>
            <a:r>
              <a:rPr lang="en-US" cap="none" dirty="0"/>
              <a:t>Model versioning with electronic signatures</a:t>
            </a:r>
          </a:p>
          <a:p>
            <a:pPr latinLnBrk="1"/>
            <a:r>
              <a:rPr lang="en-US" cap="none" dirty="0"/>
              <a:t>Formal change control for model updates</a:t>
            </a:r>
          </a:p>
          <a:p>
            <a:pPr latinLnBrk="1"/>
            <a:r>
              <a:rPr lang="en-US" cap="none" dirty="0"/>
              <a:t>Complete documentation for regulatory inspections</a:t>
            </a:r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85F41EF-DDEE-998D-7747-EB62DEAD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GMP Validation &amp; Compliance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83214007-FAB7-AB8D-18EC-1C4C877A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169" y="1095884"/>
            <a:ext cx="3158130" cy="226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5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22891-8E9E-23D3-7928-5508548C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D62787-118F-3C04-B4AA-DFF613C44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147" y="686862"/>
            <a:ext cx="8522766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sz="1400" b="1" u="sng" cap="none" dirty="0"/>
              <a:t>AUTOMATED RETRAINING PIPELINE:</a:t>
            </a:r>
          </a:p>
          <a:p>
            <a:pPr marL="0" indent="0" latinLnBrk="1">
              <a:buNone/>
            </a:pPr>
            <a:r>
              <a:rPr lang="en-US" u="sng" cap="none" dirty="0"/>
              <a:t>Trigger Conditions</a:t>
            </a:r>
            <a:r>
              <a:rPr lang="en-US" cap="none" dirty="0"/>
              <a:t>:  Performance degradation (F1-score drop &gt;10%)</a:t>
            </a:r>
          </a:p>
          <a:p>
            <a:pPr latinLnBrk="1"/>
            <a:r>
              <a:rPr lang="en-US" cap="none" dirty="0"/>
              <a:t>Scheduled retraining (quarterly)</a:t>
            </a:r>
          </a:p>
          <a:p>
            <a:pPr latinLnBrk="1"/>
            <a:r>
              <a:rPr lang="en-US" cap="none" dirty="0"/>
              <a:t>Significant process changes</a:t>
            </a:r>
          </a:p>
          <a:p>
            <a:pPr latinLnBrk="1"/>
            <a:r>
              <a:rPr lang="en-US" cap="none" dirty="0"/>
              <a:t>Data drift detection</a:t>
            </a:r>
          </a:p>
          <a:p>
            <a:pPr marL="0" indent="0" latinLnBrk="1">
              <a:buNone/>
            </a:pPr>
            <a:endParaRPr lang="en-US" u="sng" dirty="0"/>
          </a:p>
          <a:p>
            <a:pPr marL="0" indent="0" latinLnBrk="1">
              <a:buNone/>
            </a:pPr>
            <a:endParaRPr lang="en-US" u="sng" dirty="0"/>
          </a:p>
          <a:p>
            <a:pPr marL="0" indent="0" latinLnBrk="1">
              <a:buNone/>
            </a:pPr>
            <a:r>
              <a:rPr lang="en-US" sz="1400" b="1" u="sng" dirty="0"/>
              <a:t>BUSINESS KPI MONITORING:</a:t>
            </a:r>
          </a:p>
          <a:p>
            <a:pPr latinLnBrk="1"/>
            <a:r>
              <a:rPr lang="en-US" cap="none" dirty="0"/>
              <a:t>Mean Time Between Failures (MTBF)</a:t>
            </a:r>
          </a:p>
          <a:p>
            <a:pPr latinLnBrk="1"/>
            <a:r>
              <a:rPr lang="en-US" cap="none" dirty="0"/>
              <a:t>Maintenance cost per unit</a:t>
            </a:r>
          </a:p>
          <a:p>
            <a:pPr latinLnBrk="1"/>
            <a:r>
              <a:rPr lang="en-US" cap="none" dirty="0"/>
              <a:t>Unplanned downtime hours</a:t>
            </a:r>
          </a:p>
          <a:p>
            <a:pPr latinLnBrk="1"/>
            <a:r>
              <a:rPr lang="en-US" cap="none" dirty="0"/>
              <a:t>False positive/negative rates</a:t>
            </a:r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4FCB5D-29AE-6070-7F18-84779B45D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Monitoring &amp; Continuous Improvement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D736F9F-FD18-A13F-6EDE-6376E4C31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screen&#10;&#10;AI-generated content may be incorrect.">
            <a:extLst>
              <a:ext uri="{FF2B5EF4-FFF2-40B4-BE49-F238E27FC236}">
                <a16:creationId xmlns:a16="http://schemas.microsoft.com/office/drawing/2014/main" id="{A1A1EB2A-FD86-D9FE-5540-EDC25520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417" y="2401172"/>
            <a:ext cx="5288733" cy="192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0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B73B-E26E-25AE-1D25-F73B4914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5ECACE-CAFB-9C45-C7BD-713B0DFC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147" y="686862"/>
            <a:ext cx="8522766" cy="5944283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en-US" cap="none" dirty="0"/>
              <a:t>Implementation Roadmap &amp; Success Metrics</a:t>
            </a:r>
          </a:p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r>
              <a:rPr lang="en-US" u="sng" cap="none" dirty="0"/>
              <a:t>Success Metrics &amp; KPIs:</a:t>
            </a:r>
          </a:p>
          <a:p>
            <a:pPr latinLnBrk="1"/>
            <a:r>
              <a:rPr lang="en-US" cap="none" dirty="0"/>
              <a:t>Operational: &gt;15% reduction in unplanned downtime</a:t>
            </a:r>
          </a:p>
          <a:p>
            <a:pPr latinLnBrk="1"/>
            <a:r>
              <a:rPr lang="en-US" cap="none" dirty="0"/>
              <a:t>Financial: &gt;10% reduction in maintenance costs. Waste reduction</a:t>
            </a:r>
          </a:p>
          <a:p>
            <a:pPr latinLnBrk="1"/>
            <a:r>
              <a:rPr lang="en-US" cap="none" dirty="0"/>
              <a:t>Quality: Zero compliance incidents</a:t>
            </a:r>
          </a:p>
          <a:p>
            <a:pPr latinLnBrk="1"/>
            <a:r>
              <a:rPr lang="en-US" cap="none" dirty="0"/>
              <a:t>Adoption: &gt;90% maintenance team satisfaction</a:t>
            </a:r>
          </a:p>
          <a:p>
            <a:pPr latinLnBrk="1"/>
            <a:endParaRPr lang="en-US" cap="none" dirty="0"/>
          </a:p>
          <a:p>
            <a:pPr latinLnBrk="1"/>
            <a:r>
              <a:rPr lang="en-US" u="sng" cap="none" dirty="0"/>
              <a:t>Long-term Vision:</a:t>
            </a:r>
          </a:p>
          <a:p>
            <a:pPr latinLnBrk="1"/>
            <a:r>
              <a:rPr lang="en-US" cap="none" dirty="0"/>
              <a:t>Foundation for Digital Twin capabilities</a:t>
            </a:r>
          </a:p>
          <a:p>
            <a:pPr latinLnBrk="1"/>
            <a:r>
              <a:rPr lang="en-US" cap="none" dirty="0"/>
              <a:t>Expansion to quality prediction models</a:t>
            </a:r>
          </a:p>
          <a:p>
            <a:pPr latinLnBrk="1"/>
            <a:r>
              <a:rPr lang="en-US" cap="none" dirty="0"/>
              <a:t>Cross-functional AI platform for IOPS</a:t>
            </a:r>
          </a:p>
          <a:p>
            <a:pPr latinLnBrk="1"/>
            <a:r>
              <a:rPr lang="en-US" cap="none" dirty="0"/>
              <a:t>Industry-leading GMP AI practices</a:t>
            </a:r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2BBC21-20DD-88CC-A687-2DEEA756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Implementation Roadmap &amp; Conclusion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D2A954F-4BDE-9189-F5F0-2C2B87C1F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-up of a number&#10;&#10;AI-generated content may be incorrect.">
            <a:extLst>
              <a:ext uri="{FF2B5EF4-FFF2-40B4-BE49-F238E27FC236}">
                <a16:creationId xmlns:a16="http://schemas.microsoft.com/office/drawing/2014/main" id="{32B55DD8-4FB6-DA50-967A-F500162A6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311" y="921383"/>
            <a:ext cx="4851206" cy="146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4532A-CFC3-C644-3D15-2C9C0B29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BB3A34-F67F-063E-94D6-C10AEFA61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8" y="686862"/>
            <a:ext cx="8360947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C7E079-672C-2973-BEAB-655AE5164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Question and Further Discussions 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4700DB8-3174-201C-9CFF-E44A807C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31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0434-00D2-A043-5B51-9DC6CBEF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D9F7F3-FAB9-CFB0-3ED9-C71DE29C6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357078-B2C1-64B9-03AE-2936A1CA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Appendix (LSTM Input)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220B13E-D7CE-C16C-93D6-DA7FB5691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A322A2A-3FCE-4F1C-FC7F-1BC4759A8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23" y="1242467"/>
            <a:ext cx="8730856" cy="439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17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B643-F364-76A3-EEE5-CB270219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8E1603-9C2B-1F71-31B5-5B2AC500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29B7C5-D922-D6E0-25F5-9D245199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Appendix (Bert Input)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5F63398-5190-B1A5-C732-6251A71AD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B87A39-B29B-DCF7-9B38-B6C48788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72" y="1396031"/>
            <a:ext cx="8620926" cy="33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2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4F41-7660-B61B-A6A1-A7B12B98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729C6C-DA5A-B856-D884-DEDB37DA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69" y="686862"/>
            <a:ext cx="8221344" cy="5815057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endParaRPr lang="en-US" sz="2500" cap="none" dirty="0"/>
          </a:p>
          <a:p>
            <a:pPr marL="0" indent="0" latinLnBrk="1">
              <a:buNone/>
            </a:pPr>
            <a:endParaRPr lang="en-US" sz="2500" cap="none" dirty="0"/>
          </a:p>
          <a:p>
            <a:endParaRPr lang="en-US" cap="non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0F8E1C-E473-9E58-4B36-6F06EA65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94" y="125643"/>
            <a:ext cx="7773338" cy="486672"/>
          </a:xfrm>
        </p:spPr>
        <p:txBody>
          <a:bodyPr>
            <a:normAutofit/>
          </a:bodyPr>
          <a:lstStyle/>
          <a:p>
            <a:r>
              <a:rPr lang="en-US" sz="2400" cap="none" dirty="0"/>
              <a:t>Appendix (</a:t>
            </a:r>
            <a:r>
              <a:rPr lang="en-US" sz="2400" cap="none" dirty="0" err="1"/>
              <a:t>XGBoost</a:t>
            </a:r>
            <a:r>
              <a:rPr lang="en-US" sz="2400" cap="none" dirty="0"/>
              <a:t>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AFCA182-1807-93ED-3D4C-F991EADAF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2" y="6576467"/>
            <a:ext cx="2073107" cy="24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BE0FB3C-CBE8-6F4E-7F31-72B96416E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38" y="879500"/>
            <a:ext cx="7535860" cy="52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9763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571</TotalTime>
  <Words>666</Words>
  <Application>Microsoft Office PowerPoint</Application>
  <PresentationFormat>On-screen Show (4:3)</PresentationFormat>
  <Paragraphs>167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Tw Cen MT</vt:lpstr>
      <vt:lpstr>Droplet</vt:lpstr>
      <vt:lpstr>Document</vt:lpstr>
      <vt:lpstr>AI-Driven Predictive Maintenance for GMP Manufacturing (Regeneron IOPS)</vt:lpstr>
      <vt:lpstr>Presentation overview</vt:lpstr>
      <vt:lpstr>The challenge, proposed solution &amp; business impact</vt:lpstr>
      <vt:lpstr>GMP PREDICTIVE MAINTENANCE ARCHITECTURE OVERVIEW (Cloud Layer ONLY)</vt:lpstr>
      <vt:lpstr>Data Strategy and GMP Compliance </vt:lpstr>
      <vt:lpstr>Hybrid AI model architecture</vt:lpstr>
      <vt:lpstr>Hybrid AI model architecture</vt:lpstr>
      <vt:lpstr>Model Explainability and SHAP Analysis</vt:lpstr>
      <vt:lpstr>Infrastructure &amp; Deployment Strategy</vt:lpstr>
      <vt:lpstr>GMP Validation &amp; Compliance</vt:lpstr>
      <vt:lpstr>Monitoring &amp; Continuous Improvement</vt:lpstr>
      <vt:lpstr>Implementation Roadmap &amp; Conclusion</vt:lpstr>
      <vt:lpstr>Question and Further Discussions </vt:lpstr>
      <vt:lpstr>Appendix (LSTM Input)</vt:lpstr>
      <vt:lpstr>Appendix (Bert Input)</vt:lpstr>
      <vt:lpstr>Appendix (XGBoost)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Emmanuel Oyekanlu</dc:creator>
  <cp:keywords/>
  <dc:description>generated using python-pptx</dc:description>
  <cp:lastModifiedBy>Emmanuel Oyekanlu</cp:lastModifiedBy>
  <cp:revision>25</cp:revision>
  <dcterms:created xsi:type="dcterms:W3CDTF">2013-01-27T09:14:16Z</dcterms:created>
  <dcterms:modified xsi:type="dcterms:W3CDTF">2025-11-06T01:48:56Z</dcterms:modified>
  <cp:category/>
</cp:coreProperties>
</file>